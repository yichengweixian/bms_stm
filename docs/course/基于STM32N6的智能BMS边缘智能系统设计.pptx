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Vbat (V)</c:v>
                </c:pt>
              </c:strCache>
            </c:strRef>
          </c:tx>
          <c:spPr>
            <a:ln w="31750" cap="flat">
              <a:solidFill>
                <a:srgbClr val="1B7FB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7FB8"/>
              </a:solidFill>
              <a:ln w="9525" cap="flat">
                <a:solidFill>
                  <a:srgbClr val="1B7FB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E7286"/>
                    </a:solidFill>
                    <a:latin typeface="Arial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40%</c:v>
                </c:pt>
                <c:pt idx="1">
                  <c:v>50%</c:v>
                </c:pt>
                <c:pt idx="2">
                  <c:v>60%</c:v>
                </c:pt>
                <c:pt idx="3">
                  <c:v>70%</c:v>
                </c:pt>
                <c:pt idx="4">
                  <c:v>80%</c:v>
                </c:pt>
                <c:pt idx="5">
                  <c:v>90%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</c:v>
                </c:pt>
                <c:pt idx="1">
                  <c:v>9</c:v>
                </c:pt>
                <c:pt idx="2">
                  <c:v>10.8</c:v>
                </c:pt>
                <c:pt idx="3">
                  <c:v>12.6</c:v>
                </c:pt>
                <c:pt idx="4">
                  <c:v>14.4</c:v>
                </c:pt>
                <c:pt idx="5">
                  <c:v>16.2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3F-400C-8AE8-54A324674BE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sz="1000" b="0" i="0" u="none" strike="noStrike">
                    <a:solidFill>
                      <a:srgbClr val="000000"/>
                    </a:solidFill>
                    <a:latin typeface="Arial"/>
                  </a:rPr>
                  <a:t>占空比 </a:t>
                </a: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286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D8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Vbat (V)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286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基准 SOC（安时积分）</c:v>
                </c:pt>
              </c:strCache>
            </c:strRef>
          </c:tx>
          <c:spPr>
            <a:ln w="28575" cap="flat">
              <a:solidFill>
                <a:srgbClr val="5E728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86.7</c:v>
                </c:pt>
                <c:pt idx="2">
                  <c:v>75.099999999999994</c:v>
                </c:pt>
                <c:pt idx="3">
                  <c:v>65.099999999999994</c:v>
                </c:pt>
                <c:pt idx="4">
                  <c:v>56.5</c:v>
                </c:pt>
                <c:pt idx="5">
                  <c:v>48.9</c:v>
                </c:pt>
                <c:pt idx="6">
                  <c:v>42.4</c:v>
                </c:pt>
                <c:pt idx="7">
                  <c:v>36.799999999999997</c:v>
                </c:pt>
                <c:pt idx="8">
                  <c:v>31.9</c:v>
                </c:pt>
                <c:pt idx="9">
                  <c:v>27.6</c:v>
                </c:pt>
                <c:pt idx="10">
                  <c:v>23.9</c:v>
                </c:pt>
                <c:pt idx="11">
                  <c:v>20.8</c:v>
                </c:pt>
                <c:pt idx="12">
                  <c:v>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62B-44B1-8A69-52FA4C4474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SOC（模型）</c:v>
                </c:pt>
              </c:strCache>
            </c:strRef>
          </c:tx>
          <c:spPr>
            <a:ln w="28575" cap="flat">
              <a:solidFill>
                <a:srgbClr val="1B7FB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100.5</c:v>
                </c:pt>
                <c:pt idx="1">
                  <c:v>86.1</c:v>
                </c:pt>
                <c:pt idx="2">
                  <c:v>75.900000000000006</c:v>
                </c:pt>
                <c:pt idx="3">
                  <c:v>64.7</c:v>
                </c:pt>
                <c:pt idx="4">
                  <c:v>57.5</c:v>
                </c:pt>
                <c:pt idx="5">
                  <c:v>48</c:v>
                </c:pt>
                <c:pt idx="6">
                  <c:v>43</c:v>
                </c:pt>
                <c:pt idx="7">
                  <c:v>36.1</c:v>
                </c:pt>
                <c:pt idx="8">
                  <c:v>33</c:v>
                </c:pt>
                <c:pt idx="9">
                  <c:v>27.1</c:v>
                </c:pt>
                <c:pt idx="10">
                  <c:v>24.8</c:v>
                </c:pt>
                <c:pt idx="11">
                  <c:v>20</c:v>
                </c:pt>
                <c:pt idx="12">
                  <c:v>18.399999999999999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62B-44B1-8A69-52FA4C447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sz="1000" b="0" i="0" u="none" strike="noStrike">
                    <a:solidFill>
                      <a:srgbClr val="000000"/>
                    </a:solidFill>
                    <a:latin typeface="Arial"/>
                  </a:rPr>
                  <a:t>时间 </a:t>
                </a:r>
                <a:r>
                  <a:rPr lang="en-US" altLang="zh-CN" sz="1000" b="0" i="0" u="none" strike="noStrike">
                    <a:solidFill>
                      <a:srgbClr val="000000"/>
                    </a:solidFill>
                    <a:latin typeface="Arial"/>
                  </a:rPr>
                  <a:t>(</a:t>
                </a: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7286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8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SOC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7286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384C"/>
              </a:solidFill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分值</c:v>
                </c:pt>
              </c:strCache>
            </c:strRef>
          </c:tx>
          <c:spPr>
            <a:solidFill>
              <a:srgbClr val="1B7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B45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答辩和设计报告</c:v>
                </c:pt>
                <c:pt idx="1">
                  <c:v>拓展：轻量化 / 多工况（加分）</c:v>
                </c:pt>
                <c:pt idx="2">
                  <c:v>端侧 10 Hz 推理·误差评估·系统联调</c:v>
                </c:pt>
                <c:pt idx="3">
                  <c:v>int8 量化·ST Edge AI 生成·工程移植</c:v>
                </c:pt>
                <c:pt idx="4">
                  <c:v>模型训练与导出·RMSE·拟合曲线</c:v>
                </c:pt>
                <c:pt idx="5">
                  <c:v>按键交互·UART 1 Hz·上位机</c:v>
                </c:pt>
                <c:pt idx="6">
                  <c:v>100 kHz PWM·开环调节·充放电 PI 闭环</c:v>
                </c:pt>
                <c:pt idx="7">
                  <c:v>AFE 驱动·多通道采集·OLED 刷新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7</c:v>
                </c:pt>
                <c:pt idx="6">
                  <c:v>25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05-4EB8-8A59-41A1F85C6F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384C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6350" cap="flat">
              <a:solidFill>
                <a:srgbClr val="D8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7286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66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讲解提示：强调本实验不是单一驱动实验，而是“嵌入式底层控制 + 边缘 AI 部署”的综合项目。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讲解提示：用“传统方法误差会累积”引出提升层任务；说明 STM32N6 内置 NPU 是本实验“边缘智能”的硬件基础。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讲解提示：告诉学生：基础层决定“系统能不能跑”，提升层决定“智能能不能落地”，创新层决定“方案有没有亮点”。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讲解提示：展示文档中的实物图，标注“电源输入、串口、仿真器、负载、直流电源、继电器”等接口。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讲解提示：这是学生第一周最容易困惑的点。强调“调试用 DEV，演示用 FLASH，不要混用”。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讲解提示：建议学生在 CubeMX 中对照表 3、表 4 一次性配置引脚；提醒 PB5 复位后默认 JTDO/TRACESWO，注意复用冲突。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讲解提示：强调先分别验证电压、电流、温度单点读数，再合并显示；电流方向符号要在充电 / 放电中验证。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讲解提示：讲清“同一对开关管，切换方向只需改变电流给定符号”，为 PI 共用一套算法做铺垫。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讲解提示：提醒学生保存开环测试记录和示波器波形；这是评分点，也是后续 PI 调试基线。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讲解提示：用“为什么在周期中点采样”解释一次转换即可拿到控制所需平均电流，减少额外滤波。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讲解提示：强调“先估算、再微调”；大阶跃或启动时若积分饱和会出现大超调。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讲解提示：建议设计简单定长帧协议；先本地按键闭环稳定，再联调上位机远程设定。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讲解提示：强调“分模块验收”，不要一次性全系统联调；每个模块留下可复现记录。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讲解提示：明确 AI 使用边界：AI 是助手，不是“代做”；关键实验数据必须实测。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讲解提示：提醒学生检查时间戳、采样周期、电流方向符号；安时积分初值和容量标定要说明。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讲解提示：不要只看训练集 RMSE；验证集曲线和误差分布更能说明泛化能力。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讲解提示：量化前后要对比精度；部署失败常见原因是输入输出张量格式、归一化参数、内存配置不一致。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讲解提示：强调“10 Hz 上传”和“1 Hz 测量数据流”不同；注意串口带宽和帧协议设计。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讲解提示：选题要小而具体，能形成对比数据；创新层加分但不建议牺牲基础层稳定性。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讲解提示：建议学生按周设置里程碑；第 11 周前必须拿到可用 CSV，否则模型训练会挤压部署时间。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讲解提示：提醒“系统联调稳定”和“报告答辩”占比高；过程记录、截图、数据表都是得分证据。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讲解提示：明确“能用 AI，但要可追溯、可验证、可复现”。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讲解提示：安全页必须讲；功率级调试建议限流电源、先低压低占空比。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讲解提示：最后用一张“交付物清单”收尾，方便学生自查。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120640" cy="5120640"/>
          </a:xfrm>
          <a:prstGeom prst="ellipse">
            <a:avLst/>
          </a:prstGeom>
          <a:ln w="19050">
            <a:solidFill>
              <a:srgbClr val="12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548640"/>
            <a:ext cx="3291840" cy="3291840"/>
          </a:xfrm>
          <a:prstGeom prst="ellipse">
            <a:avLst/>
          </a:prstGeom>
          <a:ln w="12700">
            <a:solidFill>
              <a:srgbClr val="1C4A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B4E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777240"/>
            <a:ext cx="3291840" cy="384048"/>
          </a:xfrm>
          <a:prstGeom prst="roundRect">
            <a:avLst>
              <a:gd name="adj" fmla="val 21429"/>
            </a:avLst>
          </a:prstGeom>
          <a:solidFill>
            <a:srgbClr val="123A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58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CB4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嵌入式系统综合实验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040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STM32N6 的</a:t>
            </a:r>
            <a:endParaRPr lang="en-US" sz="3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 BMS 边缘智能系统设计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CB4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AFE 驱动、PWM 功率控制到 TinyML 端侧 SOC 估算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4224528"/>
            <a:ext cx="6949440" cy="0"/>
          </a:xfrm>
          <a:prstGeom prst="line">
            <a:avLst/>
          </a:prstGeom>
          <a:noFill/>
          <a:ln w="12700">
            <a:solidFill>
              <a:srgbClr val="275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443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7000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嵌入式系统综合实验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4443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47000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51960" y="4443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答辩小组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47000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＿ 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4443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47000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＿＿ 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39496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23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" y="5504688"/>
            <a:ext cx="64008" cy="201168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" y="5468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5742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驱动与控制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68880" y="539496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23A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96896" y="5504688"/>
            <a:ext cx="64008" cy="201168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24" name="Text 22"/>
          <p:cNvSpPr/>
          <p:nvPr/>
        </p:nvSpPr>
        <p:spPr>
          <a:xfrm>
            <a:off x="2724912" y="5468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24912" y="5742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TinyML 部署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5394960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23A5E"/>
          </a:solidFill>
          <a:ln/>
        </p:spPr>
      </p:sp>
      <p:sp>
        <p:nvSpPr>
          <p:cNvPr id="27" name="Shape 25"/>
          <p:cNvSpPr/>
          <p:nvPr/>
        </p:nvSpPr>
        <p:spPr>
          <a:xfrm>
            <a:off x="4379976" y="5504688"/>
            <a:ext cx="64008" cy="201168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8" name="Text 26"/>
          <p:cNvSpPr/>
          <p:nvPr/>
        </p:nvSpPr>
        <p:spPr>
          <a:xfrm>
            <a:off x="4507992" y="5468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07992" y="5742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开放选题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55595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B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嵌入式底层控制  +  边缘 AI 部署 的综合项目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82128" y="1481328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27547C"/>
            </a:solidFill>
            <a:prstDash val="solid"/>
          </a:ln>
        </p:spPr>
      </p:sp>
      <p:pic>
        <p:nvPicPr>
          <p:cNvPr id="32" name="Image 0" descr="E:\MCU\2026\PPT\work\assets\board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663065"/>
            <a:ext cx="3502152" cy="262661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028432" y="437083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 BMS 硬件平台（STM32N647 + ADBMS1818）</a:t>
            </a:r>
            <a:endParaRPr lang="en-US" sz="950" dirty="0"/>
          </a:p>
        </p:txBody>
      </p:sp>
      <p:sp>
        <p:nvSpPr>
          <p:cNvPr id="34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实验背景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为什么做这个实验：BMS 与 SOC 估算的痛点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64792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700784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BMS 的核心任务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2212848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状态监测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2167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 / 电流 / 温度实时采集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07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充放电控制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2880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恒流充放电、功率变换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639312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210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593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继电器时序、越限保护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352544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342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估算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43068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荷电状态，本实验的“智能”核心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15544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764792"/>
            <a:ext cx="64008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1700784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传统方法与痛点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26280" y="2157984"/>
            <a:ext cx="20116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1396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 + OCV 查表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2724912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 SOC 依赖精确标定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电流采样误差直接进入积分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动态工况 / 温度 / 老化 → 误差持续累积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6280" y="4434840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FBEDE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43484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误差会累积 → 难以满足高精度管理需求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83880" y="15544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0B2B45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1764792"/>
            <a:ext cx="64008" cy="219456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34" name="Text 32"/>
          <p:cNvSpPr/>
          <p:nvPr/>
        </p:nvSpPr>
        <p:spPr>
          <a:xfrm>
            <a:off x="8513064" y="1700784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新路径：边缘智能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12480" y="2212848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9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云端训练：PC 端用实测工况数据训练轻量化神经网络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9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边缘部署：量化压缩后部署到 MCU / NPU 实时推理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CB4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内置 ST Neural-ART NPU（600 GOPS）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DCE9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“边缘智能”在电池管理终端真正落地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50792" y="3337560"/>
            <a:ext cx="265176" cy="0"/>
          </a:xfrm>
          <a:prstGeom prst="line">
            <a:avLst/>
          </a:prstGeom>
          <a:noFill/>
          <a:ln w="2794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91272" y="3337560"/>
            <a:ext cx="265176" cy="0"/>
          </a:xfrm>
          <a:prstGeom prst="line">
            <a:avLst/>
          </a:prstGeom>
          <a:noFill/>
          <a:ln w="2794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5349240"/>
            <a:ext cx="11185855" cy="96012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CD9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49240"/>
            <a:ext cx="106372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本实验的逻辑主线：</a:t>
            </a:r>
            <a:r>
              <a:rPr lang="en-US" sz="12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SOC 估算“误差会累积” → 引出提升层任务；</a:t>
            </a:r>
            <a:r>
              <a:rPr lang="en-US" sz="125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内置 NPU，是本实验“边缘智能”的硬件基础。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实验目标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三层递进的能力培养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基础层决定“系统能不能跑”，提升层决定“智能能不能落地”，创新层决定“方案有没有亮点”。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11185855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10512"/>
            <a:ext cx="2377440" cy="1298448"/>
          </a:xfrm>
          <a:prstGeom prst="roundRect">
            <a:avLst>
              <a:gd name="adj" fmla="val 4930"/>
            </a:avLst>
          </a:prstGeom>
          <a:solidFill>
            <a:srgbClr val="E9F5E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系统能不能跑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1956816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AFE 驱动（SPI）· ADC/DMA 多通道采集 · OLED 显示 · TIM1 互补 PWM（100 kHz）· 数字 PI 闭环 · 按键与 UART 通信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11185855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91840"/>
            <a:ext cx="2377440" cy="1298448"/>
          </a:xfrm>
          <a:prstGeom prst="roundRect">
            <a:avLst>
              <a:gd name="adj" fmla="val 4930"/>
            </a:avLst>
          </a:prstGeom>
          <a:solidFill>
            <a:srgbClr val="EAF4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93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0416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智能能不能落地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3438144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 → 数据预处理 → 模型训练 → 模型量化 → ST Edge AI 部署 → 端侧推理验证（完整 TinyML 工程链路）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11185855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73168"/>
            <a:ext cx="2377440" cy="1298448"/>
          </a:xfrm>
          <a:prstGeom prst="roundRect">
            <a:avLst>
              <a:gd name="adj" fmla="val 4930"/>
            </a:avLst>
          </a:prstGeom>
          <a:solidFill>
            <a:srgbClr val="FDF1E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74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创新层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55229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方案有没有亮点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4919472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模型结构优化与轻量化 或 多工况泛化能力提升（二选一，也可自拟开放选题）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学习产出：</a:t>
            </a: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系统掌握嵌入式系统开发与边缘 AI 的完整技术链路，具备独立开展智能电池管理算法研究的能力。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硬件平台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硬件平台全景：STM32N6 + ADBMS1818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58191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EAF4F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156362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49961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STM32N647 · Cortex-M55 @ 800 MHz · Helium / FPU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31343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EA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29514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23113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 Neural-ART Accelerator @ 1 GHz · 600 GOPS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04495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E9F5E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02666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296265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ADBMS1818：电池电压、温度等高精度采集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67588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" y="377647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E9F5E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" y="375818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69417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INA199A2 + 0.015 Ω 采样电阻（增益 ×50）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40740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450799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FDF1E4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" y="448970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42569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双向半桥 DC-DC · SiZ998DT · 100 kHz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138928"/>
            <a:ext cx="59893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" y="5239512"/>
            <a:ext cx="868680" cy="420624"/>
          </a:xfrm>
          <a:prstGeom prst="roundRect">
            <a:avLst>
              <a:gd name="adj" fmla="val 19565"/>
            </a:avLst>
          </a:prstGeom>
          <a:solidFill>
            <a:srgbClr val="FDF1E4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" y="5221224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515721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OLED（I2C4）· 按键 · CH340C UART 转 USB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1481328"/>
            <a:ext cx="487375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34" name="Image 0" descr="E:\MCU\2026\PPT\work\assets\board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96" y="1627632"/>
            <a:ext cx="4389120" cy="32918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967728" y="5029200"/>
            <a:ext cx="4562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实物标注：18 V 电源适配器 · 串口 · 接仿真器 · 接负载 · 接直流电源（含充/放电继电器）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2920" y="5943600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5925312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算力是“片上推理”的前提：数字滤波 + 安时积分 + 神经网络推理都在 N6 上完成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硬件平台 · 第一周的坑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STM32N647 </a:t>
            </a:r>
            <a:r>
              <a:rPr lang="en-US" sz="2400" b="1" dirty="0" err="1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最容易踩的坑：没有片内</a:t>
            </a: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Flash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片内无用户可用 Flash —— 程序“烧不进单片机内部”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程序保存在芯片外部的非易失存储器（XSPI Flash）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每次上电由片内 BootROM 决定“从哪里加载、由谁装入 SRAM”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STM32F4“烧写片内 Flash、上电即运行”完全不同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10128"/>
          <a:ext cx="6675120" cy="126187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BOOT1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BOOT0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启动模式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行为与实验用途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1（3.3V）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Development boot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ST-LINK / J-Link 经 SWD 装载到内部 SRAM → 下载、在线调试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0（GND）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0（GND）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8A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Flash boot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从外部 XSPI Flash 加载 FSBL → 复制到 AXI SRAM 独立运行 → 演示验收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5120640"/>
            <a:ext cx="2624328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510235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BOOT 切到 Development boot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45536" y="534924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10128" y="5120640"/>
            <a:ext cx="2624328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510235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STM32CubeProgrammer 烧写外部 Flash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52744" y="534924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17336" y="5120640"/>
            <a:ext cx="2624328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8" name="Text 15"/>
          <p:cNvSpPr/>
          <p:nvPr/>
        </p:nvSpPr>
        <p:spPr>
          <a:xfrm>
            <a:off x="6117336" y="510235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BOOT 切回 Flash boot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759952" y="534924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924544" y="5120640"/>
            <a:ext cx="2624328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21" name="Text 18"/>
          <p:cNvSpPr/>
          <p:nvPr/>
        </p:nvSpPr>
        <p:spPr>
          <a:xfrm>
            <a:off x="8924544" y="510235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重新上电独立运行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576072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口诀：调试用 DEV，演示用 FLASH，不要混用。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52360" y="1444752"/>
            <a:ext cx="423367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25" name="Image 0" descr="E:\MCU\2026\PPT\work\assets\boot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49" y="1536192"/>
            <a:ext cx="3699294" cy="1417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589520" y="2944368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BOOT0 / BOOT1 设置电路（图 3）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452360" y="3310128"/>
            <a:ext cx="20482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28" name="Image 1" descr="E:\MCU\2026\PPT\work\assets\boot_de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338" y="3383280"/>
            <a:ext cx="1096299" cy="11887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543800" y="459028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Development 跳线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9637776" y="3310128"/>
            <a:ext cx="2048256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31" name="Image 2" descr="E:\MCU\2026\PPT\work\assets\boot_flas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523" y="3383280"/>
            <a:ext cx="1064763" cy="11887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29216" y="459028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Flash 跳线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硬件平台 · 全局地图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开发板资源与引脚地图：先配引脚，再调模块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409651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5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 / 备注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放电继电器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SWL_Relay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推挽输出 · 上电 RESET（低），继电器断开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充电继电器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SWS_Relay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推挽输出 · 上电低；复位后默认 JTDO/TRACESWO，注意复用冲突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UART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USART1_TX / RX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PE5 / PE6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AF7 推挽 · 115200 8N1 · TX 走 GPDMA1_Ch1，RX 空闲断帧 + DMA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AFE 通信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SPI5 SCK/MOSI/MISO/CS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PE15/PH7/PH8/PH6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 3（CPOL=1 / CPHA=2EDGE）· CS 为软件 GPIO，默认高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OLED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I2C4_SCL / SDA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PC10 / PC11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AF4 开漏 · 片内无上拉，需外接上拉电阻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KEY1 / KEY2 / KEY3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PF13/PF14/PF15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输入上拉 · 按下为低，需软件消抖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功率 PWM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TIM1_CH2 / CH2N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PA9 / PF7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互补输出 · 同时作为 ADC 外部触发（TRGO）源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VB_AD / I_AD / VS_AD / VL_AD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PA0/PA1/PA2/PA10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ADC1：INP0 / INP1 / — / INP11；ADC2：INP0 / INP1 / INP14 / INP11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943600"/>
            <a:ext cx="11183112" cy="475488"/>
          </a:xfrm>
          <a:prstGeom prst="roundRect">
            <a:avLst>
              <a:gd name="adj" fmla="val 17308"/>
            </a:avLst>
          </a:prstGeom>
          <a:solidFill>
            <a:srgbClr val="EAF4F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592531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建议：在 STM32CubeMX 中对照表 3 / 表 4 一次性完成引脚与复用配置，再逐模块调试 —— 避免“电路没错却因引脚配错而调不通”。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AFE 采集链路：电压 / 电流 / 温度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6309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36776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572768"/>
            <a:ext cx="5797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任务内容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1993392"/>
            <a:ext cx="5897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SPI 编写 ADBMS1818 驱动（Mode 3，软件 CS）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读取单节电池电压、回路电流、电池温度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先分别验证电压 / 电流 / 温度单点读数，再合并显示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电流方向符号要在充电 / 放电中分别验证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6309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32504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" y="3968496"/>
            <a:ext cx="5797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电流换算（INA199，增益 ×50，R = 0.015 Ω）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465" y="4416552"/>
            <a:ext cx="1699870" cy="47548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0" y="4407408"/>
            <a:ext cx="1463040" cy="402336"/>
          </a:xfrm>
          <a:prstGeom prst="roundRect">
            <a:avLst>
              <a:gd name="adj" fmla="val 20455"/>
            </a:avLst>
          </a:prstGeom>
          <a:solidFill>
            <a:srgbClr val="E9F5EF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3891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充电：I_AD &gt; 0.9 V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212080" y="4407408"/>
            <a:ext cx="146304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43891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放电：I_AD &lt; 0.9 V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5193792"/>
            <a:ext cx="63093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5349240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" y="5285232"/>
            <a:ext cx="5797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温度换算（PT1000 + 9.1 kΩ 上拉，VREF2 = 3.0 V 激励）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786" y="5715000"/>
            <a:ext cx="3453708" cy="5120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086600" y="1444752"/>
            <a:ext cx="459943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26" name="Image 2" descr="E:\MCU\2026\PPT\work\assets\shu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1585634"/>
            <a:ext cx="2103120" cy="1803068"/>
          </a:xfrm>
          <a:prstGeom prst="rect">
            <a:avLst/>
          </a:prstGeom>
        </p:spPr>
      </p:pic>
      <p:pic>
        <p:nvPicPr>
          <p:cNvPr id="27" name="Image 3" descr="E:\MCU\2026\PPT\work\assets\ina19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1931532"/>
            <a:ext cx="2194560" cy="11204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45643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0.015 Ω 采样电阻（左）与 INA199 放大（右），输出 I_AD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086600" y="3877056"/>
            <a:ext cx="45994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30" name="Image 4" descr="E:\MCU\2026\PPT\work\assets\tem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6053" y="3986784"/>
            <a:ext cx="2053094" cy="1325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0" y="5376672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温度测量：PT1000 + 9.1 kΩ 上拉分压，送 AFE GPIO 通道（图 8）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086600" y="5852160"/>
            <a:ext cx="4599432" cy="512064"/>
          </a:xfrm>
          <a:prstGeom prst="roundRect">
            <a:avLst>
              <a:gd name="adj" fmla="val 12500"/>
            </a:avLst>
          </a:prstGeom>
          <a:solidFill>
            <a:srgbClr val="0B2B45"/>
          </a:solidFill>
          <a:ln/>
        </p:spPr>
      </p:sp>
      <p:sp>
        <p:nvSpPr>
          <p:cNvPr id="33" name="Text 26"/>
          <p:cNvSpPr/>
          <p:nvPr/>
        </p:nvSpPr>
        <p:spPr>
          <a:xfrm>
            <a:off x="7223760" y="5852160"/>
            <a:ext cx="4370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E7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 @ 1 Hz：volt x.xxV | curr x.xxA | temp xx.x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kHz 互补 PWM 与双向功率级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61722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10" name="Image 0" descr="E:\MCU\2026\PPT\work\assets\half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95" y="1554480"/>
            <a:ext cx="4677251" cy="3063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70916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双向半桥 DC-DC 拓扑：Q1 / Q2（SiZ998DT）交替导通，L 为储能电感（图 10）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5349240"/>
            <a:ext cx="1444752" cy="713232"/>
          </a:xfrm>
          <a:prstGeom prst="roundRect">
            <a:avLst>
              <a:gd name="adj" fmla="val 8974"/>
            </a:avLst>
          </a:prstGeom>
          <a:solidFill>
            <a:srgbClr val="EAF4F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431536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566928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kHz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75688" y="5349240"/>
            <a:ext cx="1444752" cy="713232"/>
          </a:xfrm>
          <a:prstGeom prst="roundRect">
            <a:avLst>
              <a:gd name="adj" fmla="val 8974"/>
            </a:avLst>
          </a:prstGeom>
          <a:solidFill>
            <a:srgbClr val="EAF4FB"/>
          </a:solidFill>
          <a:ln/>
        </p:spPr>
      </p:sp>
      <p:sp>
        <p:nvSpPr>
          <p:cNvPr id="16" name="Text 13"/>
          <p:cNvSpPr/>
          <p:nvPr/>
        </p:nvSpPr>
        <p:spPr>
          <a:xfrm>
            <a:off x="2075688" y="5431536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电感 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75688" y="566928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μH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48456" y="5349240"/>
            <a:ext cx="1444752" cy="713232"/>
          </a:xfrm>
          <a:prstGeom prst="roundRect">
            <a:avLst>
              <a:gd name="adj" fmla="val 8974"/>
            </a:avLst>
          </a:prstGeom>
          <a:solidFill>
            <a:srgbClr val="EAF4FB"/>
          </a:solidFill>
          <a:ln/>
        </p:spPr>
      </p:sp>
      <p:sp>
        <p:nvSpPr>
          <p:cNvPr id="19" name="Text 16"/>
          <p:cNvSpPr/>
          <p:nvPr/>
        </p:nvSpPr>
        <p:spPr>
          <a:xfrm>
            <a:off x="3648456" y="5431536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= C2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48456" y="566928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324.3 μF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21224" y="5349240"/>
            <a:ext cx="1444752" cy="713232"/>
          </a:xfrm>
          <a:prstGeom prst="roundRect">
            <a:avLst>
              <a:gd name="adj" fmla="val 8974"/>
            </a:avLst>
          </a:prstGeom>
          <a:solidFill>
            <a:srgbClr val="EAF4FB"/>
          </a:solidFill>
          <a:ln/>
        </p:spPr>
      </p:sp>
      <p:sp>
        <p:nvSpPr>
          <p:cNvPr id="22" name="Text 19"/>
          <p:cNvSpPr/>
          <p:nvPr/>
        </p:nvSpPr>
        <p:spPr>
          <a:xfrm>
            <a:off x="5221224" y="5431536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Rdson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221224" y="566928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≈22 mΩ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49440" y="1481328"/>
            <a:ext cx="47365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TIM1 输出互补 PWM（CH2 / CH2N），频率 100 kHz，驱动半桥 MOSFET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 Buck：母线 → 电池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放电 Boost：电池 → 母线，方向由电流给定符号控制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两管绝不能同时导通（母线直通短路）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040880" y="3566160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EAF4FB"/>
          </a:solidFill>
          <a:ln w="9525">
            <a:solidFill>
              <a:srgbClr val="D8E4EE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2320" y="3761740"/>
            <a:ext cx="2514600" cy="212344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21240" y="3830634"/>
            <a:ext cx="1673352" cy="7455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949440" y="4370832"/>
            <a:ext cx="4736592" cy="1691640"/>
          </a:xfrm>
          <a:prstGeom prst="roundRect">
            <a:avLst>
              <a:gd name="adj" fmla="val 3784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178040" y="4498848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b="1" dirty="0" err="1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死区说明</a:t>
            </a:r>
            <a:endParaRPr lang="en-US" sz="1150" b="1" dirty="0">
              <a:solidFill>
                <a:srgbClr val="E8710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EG3112 半桥驱动芯片自带死区，TIM1_CH2 / CH2N </a:t>
            </a:r>
            <a:r>
              <a:rPr lang="en-US" sz="1050" dirty="0" err="1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可不设死区</a:t>
            </a: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2-1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开环调试：占空比扫描与理论对比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TIM1 时基、互补通道、CCR 动态更新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占空比 40%～90%，10% 步进扫描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记录占空比 — 输出电压 / 电流曲线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Buck / Boost 理论关系对比（右图）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放电接指定阻值负载，充电接指定直流电源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开环确认功率级正常后，才能进入闭环</a:t>
            </a:r>
            <a:endParaRPr lang="en-US" sz="1150" b="1" dirty="0">
              <a:solidFill>
                <a:srgbClr val="C0392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27000" indent="-127000">
              <a:lnSpc>
                <a:spcPct val="115000"/>
              </a:lnSpc>
              <a:spcBef>
                <a:spcPts val="700"/>
              </a:spcBef>
              <a:buSzPct val="100000"/>
              <a:buChar char="•"/>
            </a:pPr>
            <a:r>
              <a:rPr lang="zh-CN" alt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</a:rPr>
              <a:t>负载固定为</a:t>
            </a:r>
            <a:r>
              <a:rPr lang="en-US" altLang="zh-CN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</a:rPr>
              <a:t>33</a:t>
            </a:r>
            <a:r>
              <a:rPr lang="zh-CN" alt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</a:rPr>
              <a:t>欧姆，则放电电流需限定在</a:t>
            </a:r>
            <a:r>
              <a:rPr lang="en-US" altLang="zh-CN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</a:rPr>
              <a:t>0.5A~0.8A</a:t>
            </a:r>
            <a:endParaRPr lang="en-US" sz="1150" dirty="0">
              <a:solidFill>
                <a:srgbClr val="22384C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5029200" cy="1737360"/>
          </a:xfrm>
          <a:prstGeom prst="roundRect">
            <a:avLst>
              <a:gd name="adj" fmla="val 3684"/>
            </a:avLst>
          </a:prstGeom>
          <a:solidFill>
            <a:srgbClr val="EAF4FB"/>
          </a:solidFill>
          <a:ln w="12700">
            <a:solidFill>
              <a:srgbClr val="BC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34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为什么要保存开环记录？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开环测试记录和示波器波形是评分点，也是后续 PI 调试的基线。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1444752"/>
            <a:ext cx="5788152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91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 Buck 理论关系：Vbat = D × Vbus（示例 Vbus = 18 V）</a:t>
            </a:r>
            <a:endParaRPr lang="en-US" sz="11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126480" y="1920240"/>
          <a:ext cx="5349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2-2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采样时序与反馈标定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触发源与 TIM1 溢出（周期中点）事件对齐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周期中点采样 ≈ 电感电流纹波中间值 ≈ </a:t>
            </a:r>
            <a:r>
              <a:rPr lang="en-US" sz="1150" b="1" dirty="0" err="1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平均电流</a:t>
            </a: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zh-CN" alt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中央对齐模式，更新事件作为</a:t>
            </a:r>
            <a:r>
              <a:rPr lang="en-US" altLang="zh-CN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TRGO</a:t>
            </a:r>
            <a:r>
              <a:rPr lang="zh-CN" alt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r>
              <a:rPr lang="en-US" altLang="zh-CN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</a:t>
            </a:r>
            <a:r>
              <a:rPr lang="zh-CN" alt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150" b="1" dirty="0" err="1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RepetitionCounter</a:t>
            </a:r>
            <a:r>
              <a:rPr lang="en-US" altLang="zh-CN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</a:t>
            </a: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结果按标定系数换算为实际电压 / 电流（PI </a:t>
            </a:r>
            <a:r>
              <a:rPr lang="en-US" sz="1150" dirty="0" err="1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反馈量</a:t>
            </a: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zh-CN" alt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</a:t>
            </a:r>
            <a:r>
              <a:rPr lang="en-US" altLang="zh-CN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</a:t>
            </a:r>
            <a:r>
              <a:rPr lang="zh-CN" alt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中断回调函数中计算</a:t>
            </a:r>
            <a:r>
              <a:rPr lang="en-US" altLang="zh-CN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</a:t>
            </a:r>
            <a:r>
              <a:rPr lang="zh-CN" alt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 + DMA 非阻塞采集（VB / I / VS / VL）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可选一阶低通滤波：截止频率取开关频率的 1/10～1/5，但会引入相位滞后（Kp 需相应减小）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800600"/>
            <a:ext cx="4892040" cy="475488"/>
          </a:xfrm>
          <a:prstGeom prst="roundRect">
            <a:avLst>
              <a:gd name="adj" fmla="val 17308"/>
            </a:avLst>
          </a:prstGeom>
          <a:solidFill>
            <a:srgbClr val="E9F5E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782312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一次转换即得控制所需的平均电流，无需额外滤波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4892040" cy="475488"/>
          </a:xfrm>
          <a:prstGeom prst="roundRect">
            <a:avLst>
              <a:gd name="adj" fmla="val 17308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5422392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先标定，再控制：用万用表 / 直流电源标定 VB、I、VS、VL 通道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444752"/>
            <a:ext cx="5925312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周期中点采样示意（D = 0.6）</a:t>
            </a: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2289687"/>
            <a:ext cx="5577840" cy="32387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2-3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 PI 恒流闭环（控制频率 = PWM 频率 = 100 kHz）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采样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1938528"/>
            <a:ext cx="0" cy="109728"/>
          </a:xfrm>
          <a:prstGeom prst="line">
            <a:avLst/>
          </a:prstGeom>
          <a:noFill/>
          <a:ln w="22860">
            <a:solidFill>
              <a:srgbClr val="3CB4E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2048256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299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计算误差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2505456"/>
            <a:ext cx="0" cy="109728"/>
          </a:xfrm>
          <a:prstGeom prst="line">
            <a:avLst/>
          </a:prstGeom>
          <a:noFill/>
          <a:ln w="22860">
            <a:solidFill>
              <a:srgbClr val="3CB4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615184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96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PI 运算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072384"/>
            <a:ext cx="0" cy="109728"/>
          </a:xfrm>
          <a:prstGeom prst="line">
            <a:avLst/>
          </a:prstGeom>
          <a:noFill/>
          <a:ln w="22860">
            <a:solidFill>
              <a:srgbClr val="3CB4E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" y="3182112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638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限幅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3639312"/>
            <a:ext cx="0" cy="109728"/>
          </a:xfrm>
          <a:prstGeom prst="line">
            <a:avLst/>
          </a:prstGeom>
          <a:noFill/>
          <a:ln w="22860">
            <a:solidFill>
              <a:srgbClr val="3CB4E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3749040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E9F5E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更新 CCR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在定时中断中完成闭环流程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1874520"/>
            <a:ext cx="2788920" cy="288036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0" y="2110740"/>
            <a:ext cx="2331720" cy="30480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0400" y="2737925"/>
            <a:ext cx="2331720" cy="239151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72968" y="3391656"/>
            <a:ext cx="2395728" cy="166127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00400" y="3998078"/>
            <a:ext cx="2331720" cy="18772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063240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输出限幅后直接写入 TIM1 CCR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126480" y="1444752"/>
            <a:ext cx="5559552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309360" y="1636776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32" name="Text 26"/>
          <p:cNvSpPr/>
          <p:nvPr/>
        </p:nvSpPr>
        <p:spPr>
          <a:xfrm>
            <a:off x="6455664" y="1572768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实现要点与参数（先估算、再微调）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35508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 / 放电两个电流环共用同一套 PI 算法，仅给定符号不同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占空比限幅 40%～90%；积分项独立限幅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抗积分饱和（clamping）：u 被限幅时停止累积积分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大阶跃 / 启动时若积分饱和 → 撤除后大超调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355080" y="3703320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/>
        </p:spPr>
      </p:sp>
      <p:sp>
        <p:nvSpPr>
          <p:cNvPr id="35" name="Text 29"/>
          <p:cNvSpPr/>
          <p:nvPr/>
        </p:nvSpPr>
        <p:spPr>
          <a:xfrm>
            <a:off x="6355080" y="3685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示例：Kp ≈ 0.07～0.08，Ki ≈ 90～175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555480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按实测母线电压重算并微调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126480" y="4754880"/>
            <a:ext cx="5559552" cy="475488"/>
          </a:xfrm>
          <a:prstGeom prst="roundRect">
            <a:avLst>
              <a:gd name="adj" fmla="val 17308"/>
            </a:avLst>
          </a:prstGeom>
          <a:solidFill>
            <a:srgbClr val="EAF4FB"/>
          </a:solidFill>
          <a:ln/>
        </p:spPr>
      </p:sp>
      <p:sp>
        <p:nvSpPr>
          <p:cNvPr id="38" name="Text 32"/>
          <p:cNvSpPr/>
          <p:nvPr/>
        </p:nvSpPr>
        <p:spPr>
          <a:xfrm>
            <a:off x="6126480" y="4736592"/>
            <a:ext cx="5559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电流环开环穿越频率取开关频率的 1/10～1/20，PI 零点置于 1/10 fs 附近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126480" y="5394960"/>
            <a:ext cx="5559552" cy="475488"/>
          </a:xfrm>
          <a:prstGeom prst="roundRect">
            <a:avLst>
              <a:gd name="adj" fmla="val 17308"/>
            </a:avLst>
          </a:prstGeom>
          <a:solidFill>
            <a:srgbClr val="E9F5EF"/>
          </a:solidFill>
          <a:ln/>
        </p:spPr>
      </p:sp>
      <p:sp>
        <p:nvSpPr>
          <p:cNvPr id="40" name="Text 34"/>
          <p:cNvSpPr/>
          <p:nvPr/>
        </p:nvSpPr>
        <p:spPr>
          <a:xfrm>
            <a:off x="6126480" y="5376672"/>
            <a:ext cx="5559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充电恒流：给定 = +Iref；放电恒流：给定 = −Iref（方向由电流符号决定）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任务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模式切换、显示与上位机通信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3584448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645920"/>
            <a:ext cx="3255264" cy="475488"/>
          </a:xfrm>
          <a:prstGeom prst="roundRect">
            <a:avLst>
              <a:gd name="adj" fmla="val 13462"/>
            </a:avLst>
          </a:prstGeom>
          <a:solidFill>
            <a:srgbClr val="E9F5EF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1645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按键交互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切换恒流充电 CHG / 恒流放电 DSG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固定步长 50 mA 或 100 mA 增减电流设定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设定值直接写入 PI 给定端</a:t>
            </a:r>
            <a:endParaRPr lang="en-US" sz="10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软件消抖（按下为低，输入上拉）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06824" y="1481328"/>
            <a:ext cx="3584448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1645920"/>
            <a:ext cx="3255264" cy="475488"/>
          </a:xfrm>
          <a:prstGeom prst="roundRect">
            <a:avLst>
              <a:gd name="adj" fmla="val 13462"/>
            </a:avLst>
          </a:prstGeom>
          <a:solidFill>
            <a:srgbClr val="EA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645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OLED 扩展显示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工作模式：恒流充电 / 恒流放电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电流设定值（实时更新）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实测电压 / 电流 / 温度（1 Hz 刷新）</a:t>
            </a:r>
            <a:endParaRPr lang="en-US" sz="10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在任务 1 显示基础上扩展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0728" y="1481328"/>
            <a:ext cx="3584448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645920"/>
            <a:ext cx="3255264" cy="475488"/>
          </a:xfrm>
          <a:prstGeom prst="roundRect">
            <a:avLst>
              <a:gd name="adj" fmla="val 13462"/>
            </a:avLst>
          </a:prstGeom>
          <a:solidFill>
            <a:srgbClr val="FDF1E4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164592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 通信（115200 8N1）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30184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Hz 上传：电压 / 电流 / 温度 / 工作模式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上位机显示各项测量参数</a:t>
            </a:r>
            <a:endParaRPr lang="en-US" sz="10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上位机下发电流设定指令 → 下位机更新 PI 给定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074920"/>
            <a:ext cx="64008" cy="219456"/>
          </a:xfrm>
          <a:prstGeom prst="rect">
            <a:avLst/>
          </a:prstGeom>
          <a:solidFill>
            <a:srgbClr val="0B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" y="5010912"/>
            <a:ext cx="7168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建议：简单定长帧协议（示例）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0B2B4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532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帧头 0xAA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52928" y="55321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B7FB8"/>
          </a:solidFill>
          <a:ln/>
        </p:spPr>
      </p:sp>
      <p:sp>
        <p:nvSpPr>
          <p:cNvPr id="27" name="Text 25"/>
          <p:cNvSpPr/>
          <p:nvPr/>
        </p:nvSpPr>
        <p:spPr>
          <a:xfrm>
            <a:off x="2852928" y="5532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 / 模式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74336" y="55321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3CB4E6"/>
          </a:solidFill>
          <a:ln/>
        </p:spPr>
      </p:sp>
      <p:sp>
        <p:nvSpPr>
          <p:cNvPr id="29" name="Text 27"/>
          <p:cNvSpPr/>
          <p:nvPr/>
        </p:nvSpPr>
        <p:spPr>
          <a:xfrm>
            <a:off x="4974336" y="5532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数据域（V / I / T / Iref）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95744" y="55321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8710A"/>
          </a:solidFill>
          <a:ln/>
        </p:spPr>
      </p:sp>
      <p:sp>
        <p:nvSpPr>
          <p:cNvPr id="31" name="Text 29"/>
          <p:cNvSpPr/>
          <p:nvPr/>
        </p:nvSpPr>
        <p:spPr>
          <a:xfrm>
            <a:off x="7095744" y="5532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校验（SUM / CRC8）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17152" y="55321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0B2B45"/>
          </a:solidFill>
          <a:ln/>
        </p:spPr>
      </p:sp>
      <p:sp>
        <p:nvSpPr>
          <p:cNvPr id="33" name="Text 31"/>
          <p:cNvSpPr/>
          <p:nvPr/>
        </p:nvSpPr>
        <p:spPr>
          <a:xfrm>
            <a:off x="9217152" y="5532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帧尾 0x55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先本地按键闭环稳定，再联调上位机远程设定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· 路线图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基础层调试路线与验收清单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0078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00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9032" y="1682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 / 下载 / 串口 / OLED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99032" y="23225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最小系统先跑通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151790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9704" y="170078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16" name="Text 14"/>
          <p:cNvSpPr/>
          <p:nvPr/>
        </p:nvSpPr>
        <p:spPr>
          <a:xfrm>
            <a:off x="4489704" y="1700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02936" y="1682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 读 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02936" y="23225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单点验证电压 / 电流 / 温度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0728" y="151790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170078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1700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6840" y="1682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TIM1 互补 PWM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06840" y="232257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波形正确 + 开环扫描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30098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8386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9032" y="34655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触发与标定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99032" y="41056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周期中点采样 + 系数换算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06824" y="330098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9704" y="348386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31" name="Text 29"/>
          <p:cNvSpPr/>
          <p:nvPr/>
        </p:nvSpPr>
        <p:spPr>
          <a:xfrm>
            <a:off x="4489704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02936" y="34655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闭环恒流充 / 放电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02936" y="41056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抗饱和 + 限幅 + 阶跃验证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3300984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3608" y="3483864"/>
            <a:ext cx="566928" cy="566928"/>
          </a:xfrm>
          <a:prstGeom prst="ellipse">
            <a:avLst/>
          </a:prstGeom>
          <a:solidFill>
            <a:srgbClr val="1E8A55"/>
          </a:solidFill>
          <a:ln/>
        </p:spPr>
      </p:sp>
      <p:sp>
        <p:nvSpPr>
          <p:cNvPr id="36" name="Text 34"/>
          <p:cNvSpPr/>
          <p:nvPr/>
        </p:nvSpPr>
        <p:spPr>
          <a:xfrm>
            <a:off x="8293608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06840" y="34655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 / OLED / UART 联调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06840" y="41056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交互与远程设定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257800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EAF4FB"/>
          </a:solidFill>
          <a:ln w="12700">
            <a:solidFill>
              <a:srgbClr val="BCD9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2578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验收材料：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240280" y="5550408"/>
            <a:ext cx="179222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0280" y="55321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开环 / 闭环测试记录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23944" y="5550408"/>
            <a:ext cx="179222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55321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OLED 显示截图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07608" y="5550408"/>
            <a:ext cx="179222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07608" y="55321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串口数据截图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91272" y="5550408"/>
            <a:ext cx="179222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91272" y="55321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示波器波形图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774936" y="5550408"/>
            <a:ext cx="179222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74936" y="55321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完整代码工程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4983480"/>
            <a:ext cx="11183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强调“分模块验收”，不要一次性全系统联调；每个模块留下可复现记录。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TinyML 工程范式：从数据到端侧推理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865376" cy="777240"/>
          </a:xfrm>
          <a:prstGeom prst="chevron">
            <a:avLst/>
          </a:prstGeom>
          <a:solidFill>
            <a:srgbClr val="1B7FB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14016" y="1691640"/>
            <a:ext cx="1865376" cy="777240"/>
          </a:xfrm>
          <a:prstGeom prst="chevron">
            <a:avLst/>
          </a:prstGeom>
          <a:solidFill>
            <a:srgbClr val="1B7FB8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9392" y="1691640"/>
            <a:ext cx="1865376" cy="777240"/>
          </a:xfrm>
          <a:prstGeom prst="chevron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1865376" cy="777240"/>
          </a:xfrm>
          <a:prstGeom prst="chevron">
            <a:avLst/>
          </a:prstGeom>
          <a:solidFill>
            <a:srgbClr val="5499C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模型量化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0144" y="1691640"/>
            <a:ext cx="1865376" cy="777240"/>
          </a:xfrm>
          <a:prstGeom prst="chevron">
            <a:avLst/>
          </a:prstGeom>
          <a:solidFill>
            <a:srgbClr val="E8710A"/>
          </a:solidFill>
          <a:ln/>
        </p:spPr>
      </p:sp>
      <p:sp>
        <p:nvSpPr>
          <p:cNvPr id="18" name="Text 16"/>
          <p:cNvSpPr/>
          <p:nvPr/>
        </p:nvSpPr>
        <p:spPr>
          <a:xfrm>
            <a:off x="8174736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 Edge AI 部署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0" y="1691640"/>
            <a:ext cx="1865376" cy="777240"/>
          </a:xfrm>
          <a:prstGeom prst="chevron">
            <a:avLst/>
          </a:prstGeom>
          <a:solidFill>
            <a:srgbClr val="E8710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0112" y="169164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端侧推理验证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10144" y="2697480"/>
            <a:ext cx="0" cy="320040"/>
          </a:xfrm>
          <a:prstGeom prst="line">
            <a:avLst/>
          </a:prstGeom>
          <a:noFill/>
          <a:ln w="15240">
            <a:solidFill>
              <a:srgbClr val="5E728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3063240"/>
            <a:ext cx="7424928" cy="457200"/>
          </a:xfrm>
          <a:prstGeom prst="roundRect">
            <a:avLst>
              <a:gd name="adj" fmla="val 18000"/>
            </a:avLst>
          </a:prstGeom>
          <a:solidFill>
            <a:srgbClr val="EA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44952"/>
            <a:ext cx="7424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端：训练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0144" y="3063240"/>
            <a:ext cx="3730752" cy="457200"/>
          </a:xfrm>
          <a:prstGeom prst="roundRect">
            <a:avLst>
              <a:gd name="adj" fmla="val 18000"/>
            </a:avLst>
          </a:prstGeom>
          <a:solidFill>
            <a:srgbClr val="FDF1E4"/>
          </a:solidFill>
          <a:ln/>
        </p:spPr>
      </p:sp>
      <p:sp>
        <p:nvSpPr>
          <p:cNvPr id="25" name="Text 23"/>
          <p:cNvSpPr/>
          <p:nvPr/>
        </p:nvSpPr>
        <p:spPr>
          <a:xfrm>
            <a:off x="8010144" y="3044952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MCU / NPU 端：推理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794760"/>
            <a:ext cx="69494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977640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" y="3913632"/>
            <a:ext cx="6254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工程范式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1520" y="431596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端训练 → 量化压缩 → MCU / NPU 端实时推理：“云端训练、边缘部署”。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35240" y="3794760"/>
            <a:ext cx="4050792" cy="2377440"/>
          </a:xfrm>
          <a:prstGeom prst="roundRect">
            <a:avLst>
              <a:gd name="adj" fmla="val 2692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3977640"/>
            <a:ext cx="64008" cy="219456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32" name="Text 30"/>
          <p:cNvSpPr/>
          <p:nvPr/>
        </p:nvSpPr>
        <p:spPr>
          <a:xfrm>
            <a:off x="7964424" y="3913632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使用边界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863840" y="434340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核心数据、训练、量化、部署、误差评估必须学生独立完成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可辅助清洗、搭模型、调试、文档</a:t>
            </a:r>
            <a:endParaRPr lang="en-US" sz="10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需记录：提示词、生成内容、人工修改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257800"/>
            <a:ext cx="6949440" cy="502920"/>
          </a:xfrm>
          <a:prstGeom prst="roundRect">
            <a:avLst>
              <a:gd name="adj" fmla="val 16364"/>
            </a:avLst>
          </a:prstGeom>
          <a:solidFill>
            <a:srgbClr val="EA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23951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是助手，不是“代做”；关键实验数据必须实测。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 · 步骤 1-2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 SOC 标签生成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4406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73352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609344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实验与数据采集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084832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BMS 板做恒流充 / 放电完整过程实验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电阻负载，上位机记录数据并导出 CSV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字段：电压、电流、温度（+ 时间戳）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上位机软件：开始测量 → 自动录制 → 导出 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41605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BMS_Data_20261016_093000.csv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481328"/>
            <a:ext cx="5422392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73352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1609344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标签生成与数据集划分（Python）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20574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9525">
            <a:solidFill>
              <a:srgbClr val="D8E4EE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368" y="2103120"/>
            <a:ext cx="3616744" cy="5943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19672" y="20574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46520" y="3017520"/>
            <a:ext cx="1225296" cy="777240"/>
          </a:xfrm>
          <a:prstGeom prst="roundRect">
            <a:avLst>
              <a:gd name="adj" fmla="val 10588"/>
            </a:avLst>
          </a:prstGeom>
          <a:solidFill>
            <a:srgbClr val="EAF4FB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29992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CSV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85532" y="3401568"/>
            <a:ext cx="64008" cy="0"/>
          </a:xfrm>
          <a:prstGeom prst="line">
            <a:avLst/>
          </a:prstGeom>
          <a:noFill/>
          <a:ln w="1905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772400" y="3017520"/>
            <a:ext cx="1225296" cy="777240"/>
          </a:xfrm>
          <a:prstGeom prst="roundRect">
            <a:avLst>
              <a:gd name="adj" fmla="val 10588"/>
            </a:avLst>
          </a:prstGeom>
          <a:solidFill>
            <a:srgbClr val="EAF4FB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0" y="29992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 → 基准 SOC 标签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011412" y="3401568"/>
            <a:ext cx="64008" cy="0"/>
          </a:xfrm>
          <a:prstGeom prst="line">
            <a:avLst/>
          </a:prstGeom>
          <a:noFill/>
          <a:ln w="1905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098280" y="3017520"/>
            <a:ext cx="1225296" cy="777240"/>
          </a:xfrm>
          <a:prstGeom prst="roundRect">
            <a:avLst>
              <a:gd name="adj" fmla="val 10588"/>
            </a:avLst>
          </a:prstGeom>
          <a:solidFill>
            <a:srgbClr val="EAF4FB"/>
          </a:solidFill>
          <a:ln/>
        </p:spPr>
      </p:sp>
      <p:sp>
        <p:nvSpPr>
          <p:cNvPr id="28" name="Text 25"/>
          <p:cNvSpPr/>
          <p:nvPr/>
        </p:nvSpPr>
        <p:spPr>
          <a:xfrm>
            <a:off x="9098280" y="29992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337292" y="3401568"/>
            <a:ext cx="64008" cy="0"/>
          </a:xfrm>
          <a:prstGeom prst="line">
            <a:avLst/>
          </a:prstGeom>
          <a:noFill/>
          <a:ln w="1905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424160" y="3017520"/>
            <a:ext cx="1225296" cy="777240"/>
          </a:xfrm>
          <a:prstGeom prst="roundRect">
            <a:avLst>
              <a:gd name="adj" fmla="val 10588"/>
            </a:avLst>
          </a:prstGeom>
          <a:solidFill>
            <a:srgbClr val="E9F5EF"/>
          </a:solidFill>
          <a:ln/>
        </p:spPr>
      </p:sp>
      <p:sp>
        <p:nvSpPr>
          <p:cNvPr id="31" name="Text 28"/>
          <p:cNvSpPr/>
          <p:nvPr/>
        </p:nvSpPr>
        <p:spPr>
          <a:xfrm>
            <a:off x="10424160" y="2999232"/>
            <a:ext cx="1225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: 2 划分训练 / 验证集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92240" y="4023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归一化让模型训练更稳定；划分比例按任务书要求 8:2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" y="4983480"/>
            <a:ext cx="11183112" cy="1325880"/>
          </a:xfrm>
          <a:prstGeom prst="roundRect">
            <a:avLst>
              <a:gd name="adj" fmla="val 4828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" y="5166360"/>
            <a:ext cx="64008" cy="219456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35" name="Text 32"/>
          <p:cNvSpPr/>
          <p:nvPr/>
        </p:nvSpPr>
        <p:spPr>
          <a:xfrm>
            <a:off x="832104" y="5102352"/>
            <a:ext cx="5340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实验前先检查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31520" y="55046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时间戳与采样周期是否均匀、电流方向符号是否正确（充电为正 / 放电为负）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安时积分初值 SOC0 与电池容量 CN 的标定方法要在报告中说明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 · 步骤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模型训练与评估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12064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73352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609344"/>
            <a:ext cx="4608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模型设计（针对恒流充 / 放电简单工况）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084832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 err="1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模型：CNN</a:t>
            </a:r>
            <a:r>
              <a:rPr lang="en-US" sz="110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 err="1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输入：V</a:t>
            </a: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I / T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输出：SOC 估算值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损失：MSE　优化器：Adam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记录训练集与验证集 RMSE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EAF4FB"/>
          </a:solidFill>
          <a:ln w="12700">
            <a:solidFill>
              <a:srgbClr val="BCD9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892040"/>
            <a:ext cx="64008" cy="219456"/>
          </a:xfrm>
          <a:prstGeom prst="rect">
            <a:avLst/>
          </a:prstGeom>
          <a:solidFill>
            <a:srgbClr val="0B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" y="4828032"/>
            <a:ext cx="4608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必须留存的产物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230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训练脚本 · 模型文件 · 数据划分 · 评估结果（RMSE 数值与曲线）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742432"/>
            <a:ext cx="475488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CD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7241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不要只看训练集 RMSE：验证集曲线与误差分布更能说明泛化能力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1481328"/>
            <a:ext cx="5742432" cy="4800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27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SOC 与基准 SOC 拟合示意（验证集）</a:t>
            </a:r>
            <a:endParaRPr lang="en-US" sz="11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172200" y="19659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172200" y="5623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示例曲线：验证集 RMSE ≈ 0.7%（示意）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 · 步骤 4-5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量化与 ST Edge AI Core 部署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07568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2075688" cy="109728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7556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训练框架模型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" y="2377440"/>
            <a:ext cx="1856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TensorFlow / PyTorch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96896" y="2350008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61488" y="1554480"/>
            <a:ext cx="207568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1554480"/>
            <a:ext cx="2075688" cy="109728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7556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ONNX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71216" y="2377440"/>
            <a:ext cx="1856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标准化模型格式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2350008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0056" y="1554480"/>
            <a:ext cx="207568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0056" y="1554480"/>
            <a:ext cx="2075688" cy="1097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5129784" y="17556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 Edge AI Core 导入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29784" y="2377440"/>
            <a:ext cx="1856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校验算子与内存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14032" y="2350008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78624" y="1554480"/>
            <a:ext cx="207568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1554480"/>
            <a:ext cx="2075688" cy="109728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6" name="Text 24"/>
          <p:cNvSpPr/>
          <p:nvPr/>
        </p:nvSpPr>
        <p:spPr>
          <a:xfrm>
            <a:off x="7388352" y="17556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.c / .h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88352" y="2377440"/>
            <a:ext cx="1856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模型数组 + 推理函数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72600" y="2350008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37192" y="1554480"/>
            <a:ext cx="207568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37192" y="1554480"/>
            <a:ext cx="2075688" cy="109728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17556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移植到 BMS 工程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46920" y="2377440"/>
            <a:ext cx="1856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 / 头文件 / 链接配置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5204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E9F5EF"/>
          </a:solidFill>
          <a:ln w="12700">
            <a:solidFill>
              <a:srgbClr val="BFDE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703320"/>
            <a:ext cx="64008" cy="219456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" y="3639312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3152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量化（PTQ 训练后量化）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关注：模型大小（KB）与推理时间（ms）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520440"/>
            <a:ext cx="5422392" cy="1371600"/>
          </a:xfrm>
          <a:prstGeom prst="roundRect">
            <a:avLst>
              <a:gd name="adj" fmla="val 4667"/>
            </a:avLst>
          </a:prstGeom>
          <a:solidFill>
            <a:srgbClr val="EAF4FB"/>
          </a:solidFill>
          <a:ln w="12700">
            <a:solidFill>
              <a:srgbClr val="BCD9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3703320"/>
            <a:ext cx="64008" cy="219456"/>
          </a:xfrm>
          <a:prstGeom prst="rect">
            <a:avLst/>
          </a:prstGeom>
          <a:solidFill>
            <a:srgbClr val="0B2B45"/>
          </a:solidFill>
          <a:ln/>
        </p:spPr>
      </p:sp>
      <p:sp>
        <p:nvSpPr>
          <p:cNvPr id="39" name="Text 37"/>
          <p:cNvSpPr/>
          <p:nvPr/>
        </p:nvSpPr>
        <p:spPr>
          <a:xfrm>
            <a:off x="6592824" y="3639312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部署后自检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92240" y="4069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工程编译通过：源文件、头文件路径、内存 / 链接配置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输入输出张量可调用，推理函数返回正常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51206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BED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5294376"/>
            <a:ext cx="64008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" y="5230368"/>
            <a:ext cx="991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常见失败原因（部署 / 精度对不上先查这里）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" y="565099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输入输出张量格式不一致 ｜ 归一化参数与训练时不一致 ｜ 内存 / 链接配置不满足模型需求 ｜ 量化前后精度未对比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 · 步骤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端侧推理验证与误差评估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07568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2075688" cy="109728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737360"/>
            <a:ext cx="1856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V / I / 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" y="2395728"/>
            <a:ext cx="1856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Hz 测量数据流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96896" y="233172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61488" y="1554480"/>
            <a:ext cx="207568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1554480"/>
            <a:ext cx="2075688" cy="109728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737360"/>
            <a:ext cx="1856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执行推理函数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71216" y="2395728"/>
            <a:ext cx="1856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MCU / NPU 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233172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0056" y="1554480"/>
            <a:ext cx="207568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0056" y="1554480"/>
            <a:ext cx="2075688" cy="109728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9784" y="1737360"/>
            <a:ext cx="1856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@ 10 Hz 上传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29784" y="2395728"/>
            <a:ext cx="1856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 → PC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14032" y="233172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78624" y="1554480"/>
            <a:ext cx="207568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1554480"/>
            <a:ext cx="2075688" cy="109728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6" name="Text 24"/>
          <p:cNvSpPr/>
          <p:nvPr/>
        </p:nvSpPr>
        <p:spPr>
          <a:xfrm>
            <a:off x="7388352" y="1737360"/>
            <a:ext cx="1856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对比基准 SOC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88352" y="2395728"/>
            <a:ext cx="1856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端安时积分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72600" y="2331720"/>
            <a:ext cx="146304" cy="0"/>
          </a:xfrm>
          <a:prstGeom prst="line">
            <a:avLst/>
          </a:prstGeom>
          <a:noFill/>
          <a:ln w="22860">
            <a:solidFill>
              <a:srgbClr val="5E728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37192" y="1554480"/>
            <a:ext cx="207568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37192" y="1554480"/>
            <a:ext cx="2075688" cy="109728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31" name="Text 29"/>
          <p:cNvSpPr/>
          <p:nvPr/>
        </p:nvSpPr>
        <p:spPr>
          <a:xfrm>
            <a:off x="9646920" y="1737360"/>
            <a:ext cx="1856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误差评估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46920" y="2395728"/>
            <a:ext cx="1856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端侧部署误差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47472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" y="40050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/ 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加速前后对比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06824" y="347472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07992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模型大小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07992" y="40050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/ MB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07992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量化前后对比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10728" y="347472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1896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精度对比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11896" y="40050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 / 最大误差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1896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MCU 端 vs PC 基准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51206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5294376"/>
            <a:ext cx="64008" cy="219456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" y="5230368"/>
            <a:ext cx="4425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31520" y="5632704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“10 Hz SOC 上传”与“1 Hz 测量数据流”是两条不同频率的数据流；</a:t>
            </a: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注意串口带宽与帧协议设计，避免数据流互相阻塞。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创新层 · 选做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创新层：可选方向与成果形式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4864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81328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DF1E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1 ｜ 模型结构优化与轻量化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zh-CN" alt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参数辨识 </a:t>
            </a:r>
            <a:r>
              <a:rPr lang="en-US" altLang="zh-CN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</a:t>
            </a:r>
            <a:r>
              <a:rPr lang="zh-CN" alt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扩展卡尔曼滤波（</a:t>
            </a:r>
            <a:r>
              <a:rPr lang="en-US" altLang="zh-CN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</a:t>
            </a:r>
            <a:r>
              <a:rPr lang="zh-CN" alt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altLang="zh-CN" sz="1100" dirty="0">
              <a:solidFill>
                <a:srgbClr val="22384C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</a:t>
            </a:r>
            <a:r>
              <a:rPr lang="zh-CN" alt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</a:t>
            </a:r>
            <a:r>
              <a:rPr lang="zh-CN" altLang="zh-CN" sz="1100" dirty="0">
                <a:effectLst/>
                <a:latin typeface="Times New Roman" panose="02020603050405020304" pitchFamily="18" charset="0"/>
                <a:ea typeface="思源黑体"/>
                <a:cs typeface="Times New Roman" panose="02020603050405020304" pitchFamily="18" charset="0"/>
              </a:rPr>
              <a:t>安时累积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481328"/>
            <a:ext cx="54864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481328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EA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48132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2 ｜ 多工况泛化能力提升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2331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HPPC、DST 等复杂工况数据增强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 err="1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上位机已内置恒流循环</a:t>
            </a: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HPPC / DST 自动工况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5604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成果形式：</a:t>
            </a:r>
            <a:r>
              <a:rPr lang="en-US" sz="12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 / 模型大小 / 推理时间对比数据，或多工况测试数据 + 改进模型与部署代码。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897880"/>
            <a:ext cx="11183112" cy="475488"/>
          </a:xfrm>
          <a:prstGeom prst="roundRect">
            <a:avLst>
              <a:gd name="adj" fmla="val 17308"/>
            </a:avLst>
          </a:prstGeom>
          <a:solidFill>
            <a:srgbClr val="FDF1E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87959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选题建议：小而具体、能形成对比数据；创新层加分（+10），但不建议牺牲基础层稳定性。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时间安排与阶段产出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435254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核心任务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阶段产出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(4学时)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基础层任务实现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ADBMS1818 / ADC / DMA / OLED 驱动；TIM1 互补 PWM 与死区配置；开环占空比扫描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方案初稿、分工表、AI 使用计划、开环测试记录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9-10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(6学时)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基础层任务实现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 PI 恒流充 / 放电；按键与 UART 通信联调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基础层代码、开环 / 闭环测试记录、OLED 与串口截图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1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11-12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7F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(6学时)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辅助提升层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恒流充/放电数据采集与 CSV 导出；安时积分 SOC 标签、归一化与 8:2 划分；CNN/NARX 训练与 RMSE 评估；ONNX 导出、ST Edge AI 生成 C 代码；移植 STM32N6 并 10 Hz 上传对比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数据集、训练脚本与模型、ONNX / C 代码、端侧验证数据与误差分析、AI 使用记录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12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(2学时)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报告·验收·答辩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集中验收与答辩；总结反馈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38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设计报告（含 AI 使用记录）、答辩 PPT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870448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FDF1E4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里程碑提醒：</a:t>
            </a:r>
            <a:r>
              <a:rPr lang="en-US" sz="1200" b="1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周前必须拿到可用 CSV，否则模型训练会挤压部署时间。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考核评价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评分标准：把分数映射到可交付物（满分 100 + 创新 10）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1481328"/>
          <a:ext cx="704088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818120" y="1481328"/>
            <a:ext cx="3867912" cy="4800600"/>
          </a:xfrm>
          <a:prstGeom prst="roundRect">
            <a:avLst>
              <a:gd name="adj" fmla="val 165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0" y="1673352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2" name="Text 9"/>
          <p:cNvSpPr/>
          <p:nvPr/>
        </p:nvSpPr>
        <p:spPr>
          <a:xfrm>
            <a:off x="8147304" y="1609344"/>
            <a:ext cx="3328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分数解读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PWM + PI 闭环（25 分）是最大单项，决定“系统能不能跑”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+ 答辩（30 分）占比最高，过程材料要齐全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提升层三个 10 分：训练导出 / 量化部署 / 端侧联调</a:t>
            </a:r>
            <a:endParaRPr lang="en-US" sz="10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创新拓展为加分项（+10），量力而行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01000" y="4663440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EAF4FB"/>
          </a:solidFill>
          <a:ln/>
        </p:spPr>
      </p:sp>
      <p:sp>
        <p:nvSpPr>
          <p:cNvPr id="15" name="Text 12"/>
          <p:cNvSpPr/>
          <p:nvPr/>
        </p:nvSpPr>
        <p:spPr>
          <a:xfrm>
            <a:off x="8183880" y="480060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得分证据：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过程记录、截图、数据表都是评分依据 —— 边做边留档。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使用规范与学术诚信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584448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700784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E9F5EF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1737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可用于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1214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辅助手段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模型搭建建议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代码调试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文档整理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06824" y="1517904"/>
            <a:ext cx="3584448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1700784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EA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737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必须记录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21214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全程可追溯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62856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关键提示词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人工修改情况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报告中单列“AI 使用记录”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10728" y="1517904"/>
            <a:ext cx="3584448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700784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FBEDEA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1737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必须独立完成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21624" y="21214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诚信底线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66760" y="265176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核心实验数据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量化部署</a:t>
            </a:r>
            <a:endParaRPr lang="en-US" sz="11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误差评估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34924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0B2B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十二字原则：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能使用、要记录、可追溯、可验证、可复现。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71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调试锦囊与安全规范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5486400" cy="4800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73352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609344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调试锦囊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5074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顺序：先电源 → 再通信 → 后功率；先开环 → 再闭环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继电器顺序：充电先闭合充电继电器、断开放电继电器；放电反之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电压越限下位机拒绝进入并提示 VS_ERROR / VB_ERROR，按提示查接线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测试中不要插拔串口线，不要随意同步参数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示波器观察点：PWM 互补波形、死区 / 驱动波形、电感电流纹波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串口打不开：检查线缆、CH340C 驱动、端口占用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481328"/>
            <a:ext cx="5486400" cy="4800600"/>
          </a:xfrm>
          <a:prstGeom prst="roundRect">
            <a:avLst>
              <a:gd name="adj" fmla="val 1333"/>
            </a:avLst>
          </a:prstGeom>
          <a:solidFill>
            <a:srgbClr val="FBED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673352"/>
            <a:ext cx="64008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1609344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安全规范（必须遵守）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28232" y="2057400"/>
            <a:ext cx="5074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异常发热、异味、读数异常 → 立即停止并断电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功率级调试：限流电源 + 先低压、低占空比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先接线检查无误，再上电并打开软件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离开时：先停止测量 → 关闭串口 → 断电拆线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长时间测试前确认电池电量、散热与接线端子温度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改完参数必须点击【同步参数到下位机】才生效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总结与答辩建议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02920" cy="45720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70432"/>
            <a:ext cx="10682935" cy="45720"/>
          </a:xfrm>
          <a:prstGeom prst="rect">
            <a:avLst/>
          </a:prstGeom>
          <a:solidFill>
            <a:srgbClr val="D8E4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47104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综合实验题 8 ｜ 基于 STM32N6 的智能 BMS 边缘智能系统设计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9815" y="65471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72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STM32N6 × ADBMS1818 × TinyML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58444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627632"/>
            <a:ext cx="868680" cy="502920"/>
          </a:xfrm>
          <a:prstGeom prst="roundRect">
            <a:avLst>
              <a:gd name="adj" fmla="val 16364"/>
            </a:avLst>
          </a:prstGeom>
          <a:solidFill>
            <a:srgbClr val="1E8A5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609344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73352" y="14630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底层驱动与功率控制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6824" y="1463040"/>
            <a:ext cx="358444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1627632"/>
            <a:ext cx="868680" cy="502920"/>
          </a:xfrm>
          <a:prstGeom prst="roundRect">
            <a:avLst>
              <a:gd name="adj" fmla="val 16364"/>
            </a:avLst>
          </a:prstGeom>
          <a:solidFill>
            <a:srgbClr val="1B7FB8"/>
          </a:solidFill>
          <a:ln/>
        </p:spPr>
      </p:sp>
      <p:sp>
        <p:nvSpPr>
          <p:cNvPr id="15" name="Text 13"/>
          <p:cNvSpPr/>
          <p:nvPr/>
        </p:nvSpPr>
        <p:spPr>
          <a:xfrm>
            <a:off x="4471416" y="1609344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77256" y="14630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TinyML 部署链路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0728" y="1463040"/>
            <a:ext cx="358444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627632"/>
            <a:ext cx="868680" cy="502920"/>
          </a:xfrm>
          <a:prstGeom prst="roundRect">
            <a:avLst>
              <a:gd name="adj" fmla="val 16364"/>
            </a:avLst>
          </a:prstGeom>
          <a:solidFill>
            <a:srgbClr val="E8710A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609344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14630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创新对比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752344"/>
            <a:ext cx="64008" cy="219456"/>
          </a:xfrm>
          <a:prstGeom prst="rect">
            <a:avLst/>
          </a:prstGeom>
          <a:solidFill>
            <a:srgbClr val="1B7FB8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" y="2688336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答辩展示清单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3127248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系统框图（硬件 + 数据流）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关键波形（PWM / 电流纹波 / 阶跃响应）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OLED / 串口截图</a:t>
            </a:r>
            <a:endParaRPr lang="en-US" sz="11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拟合曲线（预测 vs 基准）</a:t>
            </a:r>
            <a:endParaRPr lang="en-US" sz="11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22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端侧误差表 + 模型大小 / 推理时间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256032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752344"/>
            <a:ext cx="64008" cy="219456"/>
          </a:xfrm>
          <a:prstGeom prst="rect">
            <a:avLst/>
          </a:prstGeom>
          <a:solidFill>
            <a:srgbClr val="0B2B45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816" y="2688336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28232" y="315468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31363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背景与方案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34272" y="315468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31" name="Text 29"/>
          <p:cNvSpPr/>
          <p:nvPr/>
        </p:nvSpPr>
        <p:spPr>
          <a:xfrm>
            <a:off x="9034272" y="31363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硬件与驱动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28232" y="365760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36393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控制算法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34272" y="365760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9034272" y="36393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数据与模型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28232" y="416052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414223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部署与验证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34272" y="416052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414223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创新点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28232" y="466344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41" name="Text 39"/>
          <p:cNvSpPr/>
          <p:nvPr/>
        </p:nvSpPr>
        <p:spPr>
          <a:xfrm>
            <a:off x="6428232" y="46451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AI 使用记录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34272" y="4663440"/>
            <a:ext cx="2468880" cy="402336"/>
          </a:xfrm>
          <a:prstGeom prst="roundRect">
            <a:avLst>
              <a:gd name="adj" fmla="val 20455"/>
            </a:avLst>
          </a:prstGeom>
          <a:solidFill>
            <a:srgbClr val="EAF4FB"/>
          </a:solidFill>
          <a:ln/>
        </p:spPr>
      </p:sp>
      <p:sp>
        <p:nvSpPr>
          <p:cNvPr id="43" name="Text 41"/>
          <p:cNvSpPr/>
          <p:nvPr/>
        </p:nvSpPr>
        <p:spPr>
          <a:xfrm>
            <a:off x="9034272" y="46451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总结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0B2B45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B4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BMS 从“会采集、会控制”走向“会估算、会学习”。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2937</Words>
  <Application>Microsoft Office PowerPoint</Application>
  <PresentationFormat>宽屏</PresentationFormat>
  <Paragraphs>578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Microsoft YaHei</vt:lpstr>
      <vt:lpstr>Arial</vt:lpstr>
      <vt:lpstr>Consolas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STM32N6 的智能 BMS 边缘智能系统设计</dc:title>
  <dc:subject>PptxGenJS Presentation</dc:subject>
  <dc:creator>嵌入式系统综合实验</dc:creator>
  <cp:lastModifiedBy>bo xiao</cp:lastModifiedBy>
  <cp:revision>14</cp:revision>
  <dcterms:created xsi:type="dcterms:W3CDTF">2026-10-22T08:27:25Z</dcterms:created>
  <dcterms:modified xsi:type="dcterms:W3CDTF">2026-10-22T09:04:40Z</dcterms:modified>
</cp:coreProperties>
</file>